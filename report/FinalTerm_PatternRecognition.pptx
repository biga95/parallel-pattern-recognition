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74" r:id="rId9"/>
    <p:sldId id="275" r:id="rId10"/>
    <p:sldId id="276" r:id="rId11"/>
    <p:sldId id="268" r:id="rId12"/>
    <p:sldId id="269" r:id="rId13"/>
    <p:sldId id="277" r:id="rId14"/>
    <p:sldId id="278" r:id="rId15"/>
    <p:sldId id="279" r:id="rId16"/>
    <p:sldId id="272" r:id="rId17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E376C067-160F-3B41-86F3-6D9288E7AFF0}">
          <p14:sldIdLst>
            <p14:sldId id="256"/>
            <p14:sldId id="259"/>
            <p14:sldId id="260"/>
            <p14:sldId id="261"/>
          </p14:sldIdLst>
        </p14:section>
        <p14:section name="Sezione senza titolo" id="{B560A11D-2739-455E-80DD-18C1214A95DF}">
          <p14:sldIdLst>
            <p14:sldId id="262"/>
            <p14:sldId id="263"/>
            <p14:sldId id="264"/>
            <p14:sldId id="274"/>
            <p14:sldId id="275"/>
            <p14:sldId id="276"/>
            <p14:sldId id="268"/>
            <p14:sldId id="269"/>
            <p14:sldId id="277"/>
            <p14:sldId id="278"/>
            <p14:sldId id="279"/>
            <p14:sldId id="272"/>
          </p14:sldIdLst>
        </p14:section>
        <p14:section name="Run results" id="{5D26AFBB-FD0C-CB41-B0E5-15414290968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806">
          <p15:clr>
            <a:srgbClr val="A4A3A4"/>
          </p15:clr>
        </p15:guide>
        <p15:guide id="2" pos="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979"/>
    <a:srgbClr val="003257"/>
    <a:srgbClr val="003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29" autoAdjust="0"/>
    <p:restoredTop sz="90065" autoAdjust="0"/>
  </p:normalViewPr>
  <p:slideViewPr>
    <p:cSldViewPr snapToGrid="0" snapToObjects="1">
      <p:cViewPr varScale="1">
        <p:scale>
          <a:sx n="71" d="100"/>
          <a:sy n="71" d="100"/>
        </p:scale>
        <p:origin x="1402" y="19"/>
      </p:cViewPr>
      <p:guideLst>
        <p:guide orient="horz" pos="1806"/>
        <p:guide pos="4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F3CCC-77DD-F84F-A249-CA3C5045A043}" type="datetime1">
              <a:rPr lang="it-IT" smtClean="0"/>
              <a:pPr/>
              <a:t>17/02/2026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FBF69-E6D8-384B-B1CC-31CC9EB4A4A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4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92227-D6DC-FD45-9507-DB2BAD58473C}" type="datetime1">
              <a:rPr lang="it-IT" smtClean="0"/>
              <a:pPr/>
              <a:t>17/02/2026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86711-015B-0142-88C4-65D50E44FA77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0962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78D7-630B-6289-4AFC-D096D4AC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ED605F3-E8C6-98BD-49F0-796A77FA1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841B571-D87A-A636-ED1F-48E375EB1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AF9EB0-ED00-B6A5-54DD-51B400E9D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405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B2DDB-3713-9D69-7B9B-FF6ABFE8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1BBC340-0020-EED3-09A0-927D79F91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1D1EDB-55E3-5077-46AB-791646587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A9A29B-7E4A-4D4D-A04E-C5D74A0C5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3675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6051-5CF3-DC86-AA95-7582248C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F586032-D237-4985-5C23-84AE29138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BC59EFE-91A7-11C9-C60E-46AE6A3A1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6FCC6B1-3D8A-CB60-816C-9EE35060C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213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63BC4-34D7-35F9-CF7D-02772144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D5BD8F0-82BF-F247-4B97-09E0C8C12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EDBD64D-A3C9-CA44-4C04-814A80024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3F1231-4BBF-6099-6EDB-F35108439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9892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7085-AC62-88E2-32FF-657DA6DA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98AD4E-3430-872F-E6A4-BB40B0CA9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E69020-6A39-DEC4-7E9B-1F4ACB2FB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092F8-78AE-30A0-BD9A-99D93A32C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0238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FC35-EE37-4E36-1DE4-E6D75D06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515D64B-8DFA-C99D-48E1-1AFDFA88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D47EF1-A2DF-CE4D-0552-BDEE4B074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2C9F49-CC09-EF1E-AD35-B7E406AF5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9574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FC35-EE37-4E36-1DE4-E6D75D06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515D64B-8DFA-C99D-48E1-1AFDFA88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D47EF1-A2DF-CE4D-0552-BDEE4B074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2C9F49-CC09-EF1E-AD35-B7E406AF5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521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FC35-EE37-4E36-1DE4-E6D75D06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515D64B-8DFA-C99D-48E1-1AFDFA88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D47EF1-A2DF-CE4D-0552-BDEE4B074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2C9F49-CC09-EF1E-AD35-B7E406AF5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3774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FC35-EE37-4E36-1DE4-E6D75D06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515D64B-8DFA-C99D-48E1-1AFDFA88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D47EF1-A2DF-CE4D-0552-BDEE4B074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2C9F49-CC09-EF1E-AD35-B7E406AF5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0376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8DCD-866A-B337-481B-B5F6EFC6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E2B89F-12E2-8149-26C1-1CEDB668B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10A6EC8-399D-62BE-A5CE-12552BCE0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129061-145F-C757-C3AC-C8017A14F2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8460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808D-88CC-460D-D9D3-F5F1277D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2A2673-5A69-95DA-C59C-837F2608E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CA540C-9949-32BD-AB7D-379D67061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DB29A4-0232-D0A0-6F8C-4EEFB624B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0068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808D-88CC-460D-D9D3-F5F1277D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2A2673-5A69-95DA-C59C-837F2608E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CA540C-9949-32BD-AB7D-379D67061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DB29A4-0232-D0A0-6F8C-4EEFB624B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932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808D-88CC-460D-D9D3-F5F1277D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2A2673-5A69-95DA-C59C-837F2608E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CA540C-9949-32BD-AB7D-379D67061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DB29A4-0232-D0A0-6F8C-4EEFB624B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477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808D-88CC-460D-D9D3-F5F1277D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2A2673-5A69-95DA-C59C-837F2608E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CA540C-9949-32BD-AB7D-379D67061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DB29A4-0232-D0A0-6F8C-4EEFB624B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675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702D-8D72-3FAB-D924-D8C46B1D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390057-8F7E-CABA-EC65-7E876424C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52DDB3B-C4D4-1259-CE3D-4EFC735B9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4F3F80-0A37-1287-35D9-1BF269E9F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788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724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580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837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38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63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600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63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89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64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856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77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91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30" y="6347762"/>
            <a:ext cx="2545261" cy="52239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9"/>
            <a:ext cx="9144000" cy="6845300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4914900" y="3599919"/>
            <a:ext cx="362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 err="1"/>
              <a:t>Parallel</a:t>
            </a:r>
            <a:r>
              <a:rPr lang="it-IT" dirty="0"/>
              <a:t> Computing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057938" y="4590468"/>
            <a:ext cx="2486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b="1" dirty="0">
                <a:latin typeface=""/>
              </a:rPr>
              <a:t>Andrea Bigagli 7036221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7008868" y="6474363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"/>
              </a:rPr>
              <a:t>A.A. 2025/2026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2743200" y="1980782"/>
            <a:ext cx="58013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"/>
              </a:rPr>
              <a:t>Pattern Recognition on Time Series with CUDA and Python</a:t>
            </a:r>
            <a:endParaRPr lang="it-IT" sz="3200" b="1" dirty="0">
              <a:solidFill>
                <a:schemeClr val="accent1">
                  <a:lumMod val="75000"/>
                </a:schemeClr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311714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4F15-C2FE-6CFE-806F-14FDD5BF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06CFE09-9878-BE5B-473B-D18E76A72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A979219-6AF7-98B7-F538-49FC5078E2CC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Introduction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E5B4619-B6E9-9900-FD64-76F385A27E81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48D5E18-0B99-B58B-A31B-A43DD65B9904}"/>
              </a:ext>
            </a:extLst>
          </p:cNvPr>
          <p:cNvSpPr txBox="1"/>
          <p:nvPr/>
        </p:nvSpPr>
        <p:spPr>
          <a:xfrm>
            <a:off x="832984" y="2361321"/>
            <a:ext cx="78190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Pattern recognition on time series is a common task in </a:t>
            </a:r>
            <a:r>
              <a:rPr lang="en-US" sz="2000" b="1" dirty="0"/>
              <a:t>signal processing</a:t>
            </a:r>
            <a:r>
              <a:rPr lang="en-US" sz="2000" dirty="0"/>
              <a:t> and </a:t>
            </a:r>
            <a:r>
              <a:rPr lang="en-US" sz="2000" b="1" dirty="0"/>
              <a:t>biomedical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Brute-force pattern matching is computationally expensive on large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window comparison is independent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problem is naturally data-parallel and well suited for parallel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Goal: </a:t>
            </a:r>
            <a:r>
              <a:rPr lang="en-US" sz="2000" dirty="0"/>
              <a:t>compare different parallel programming models on the same algorithm and dataset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6E677FB-B56C-EC4D-432B-3A639A638B8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B05174EF-FD1B-9501-46F1-61027C99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00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28B1-9999-2DF0-54EE-1C7EBB13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A9B952D-4094-FA99-7684-2CE8DFCC8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A09B3D-E48F-20F9-7E40-3AC4D2178F48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Problem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Definition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E60817D-6F27-A47B-F574-C81F75C9182C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41A67B9-F118-F76A-D656-E927ADE2BE5D}"/>
              </a:ext>
            </a:extLst>
          </p:cNvPr>
          <p:cNvSpPr txBox="1"/>
          <p:nvPr/>
        </p:nvSpPr>
        <p:spPr>
          <a:xfrm>
            <a:off x="644230" y="2036981"/>
            <a:ext cx="7819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Long time series</a:t>
            </a:r>
            <a:r>
              <a:rPr lang="en-US" sz="1600" b="1" dirty="0"/>
              <a:t>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b="1" dirty="0"/>
              <a:t> </a:t>
            </a:r>
            <a:r>
              <a:rPr lang="en-US" sz="1600" dirty="0"/>
              <a:t>of length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Short query pattern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dirty="0"/>
              <a:t> of length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endParaRPr lang="en-US" sz="2000" b="1" i="1" dirty="0"/>
          </a:p>
          <a:p>
            <a:r>
              <a:rPr lang="en-US" sz="1600" dirty="0"/>
              <a:t>For each valid position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∈ [0,N−M] </a:t>
            </a:r>
            <a:r>
              <a:rPr lang="en-US" sz="1600" dirty="0"/>
              <a:t>, compute:</a:t>
            </a:r>
            <a:endParaRPr lang="en-US" sz="1600" b="1" i="1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1DF3F31-C372-BCA2-E773-D911E20F1A86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31C6BE5-8E99-CA31-0FB7-F9C4256B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1AA0D64-1BC1-75FA-F6DA-AD13270E641A}"/>
              </a:ext>
            </a:extLst>
          </p:cNvPr>
          <p:cNvSpPr txBox="1"/>
          <p:nvPr/>
        </p:nvSpPr>
        <p:spPr>
          <a:xfrm>
            <a:off x="648253" y="4818619"/>
            <a:ext cx="1309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B2E21AD-BEFB-D7BA-65DE-8B5EFB5A2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508" y="3611699"/>
            <a:ext cx="4437246" cy="955513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6ED10868-7AB6-19D9-2334-B7066CA52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549" y="5111007"/>
            <a:ext cx="3629270" cy="71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8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17F9-37A0-9AC7-7A6D-D24893A6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50AC813-1A65-9FF8-F113-5890C580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4A2BF69-71C6-CB06-6444-E7F62BF1197D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Algorithm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Overview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204F97F-1010-018E-4D23-C9379B0B2292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AC89C8-3CC9-682E-B730-58129E459B47}"/>
              </a:ext>
            </a:extLst>
          </p:cNvPr>
          <p:cNvSpPr txBox="1"/>
          <p:nvPr/>
        </p:nvSpPr>
        <p:spPr>
          <a:xfrm>
            <a:off x="387102" y="1991126"/>
            <a:ext cx="36404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Sliding-window pattern matching</a:t>
            </a:r>
            <a:r>
              <a:rPr lang="en-US" dirty="0"/>
              <a:t>: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valid</a:t>
            </a:r>
            <a:r>
              <a:rPr lang="it-IT" dirty="0"/>
              <a:t> position: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compute </a:t>
            </a:r>
            <a:r>
              <a:rPr lang="it-IT" b="1" dirty="0"/>
              <a:t>SAD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update global </a:t>
            </a:r>
            <a:r>
              <a:rPr lang="it-IT" b="1" dirty="0"/>
              <a:t>minimum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it-IT" dirty="0"/>
              <a:t>Two </a:t>
            </a:r>
            <a:r>
              <a:rPr lang="it-IT" dirty="0" err="1"/>
              <a:t>nested</a:t>
            </a:r>
            <a:r>
              <a:rPr lang="it-IT" dirty="0"/>
              <a:t> loops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it-IT" dirty="0"/>
              <a:t>Time </a:t>
            </a:r>
            <a:r>
              <a:rPr lang="it-IT" dirty="0" err="1"/>
              <a:t>complexity</a:t>
            </a:r>
            <a:r>
              <a:rPr lang="it-IT" dirty="0"/>
              <a:t>:</a:t>
            </a:r>
          </a:p>
          <a:p>
            <a:pPr marL="285750" lvl="1" indent="-285750" algn="ctr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it-IT" dirty="0"/>
              <a:t>Same </a:t>
            </a:r>
            <a:r>
              <a:rPr lang="it-IT" dirty="0" err="1"/>
              <a:t>reference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 for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implementations</a:t>
            </a:r>
            <a:endParaRPr lang="it-IT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D65137B-9F05-8698-6E68-97FCCA24C501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E2597AB-9CBC-270A-F91B-3687CF33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8DCA586-48E5-558A-2E0D-2F5E63DEA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40" y="4561481"/>
            <a:ext cx="2351126" cy="41112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CF85248-0ABD-577D-AE0F-7C46D26E6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716" y="1761417"/>
            <a:ext cx="4723031" cy="385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5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87465-91C2-4A4E-75AF-FA9020A8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E76DD04-F729-C6E1-518F-596299051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7346F0-846E-6161-95CB-BA65FAD6994C}"/>
              </a:ext>
            </a:extLst>
          </p:cNvPr>
          <p:cNvSpPr txBox="1"/>
          <p:nvPr/>
        </p:nvSpPr>
        <p:spPr>
          <a:xfrm>
            <a:off x="452310" y="1002529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Dataset: ECG5000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01E369-6D24-3E51-581E-FFB77CE9C780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E2BDF64-633F-92B0-CA5C-3C31CEC2513E}"/>
              </a:ext>
            </a:extLst>
          </p:cNvPr>
          <p:cNvSpPr txBox="1"/>
          <p:nvPr/>
        </p:nvSpPr>
        <p:spPr>
          <a:xfrm>
            <a:off x="452310" y="1889779"/>
            <a:ext cx="381357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The dataset </a:t>
            </a:r>
            <a:r>
              <a:rPr lang="it-IT" sz="1600" dirty="0" err="1"/>
              <a:t>used</a:t>
            </a:r>
            <a:r>
              <a:rPr lang="it-IT" sz="1600" dirty="0"/>
              <a:t> in </a:t>
            </a:r>
            <a:r>
              <a:rPr lang="it-IT" sz="1600" dirty="0" err="1"/>
              <a:t>this</a:t>
            </a:r>
            <a:r>
              <a:rPr lang="it-IT" sz="1600" dirty="0"/>
              <a:t> project </a:t>
            </a:r>
            <a:r>
              <a:rPr lang="it-IT" sz="1600" dirty="0" err="1"/>
              <a:t>is</a:t>
            </a:r>
            <a:r>
              <a:rPr lang="it-IT" sz="1600" dirty="0"/>
              <a:t> : </a:t>
            </a:r>
          </a:p>
          <a:p>
            <a:pPr marL="358775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Dataset: </a:t>
            </a:r>
            <a:r>
              <a:rPr lang="it-IT" sz="1600" b="1" dirty="0"/>
              <a:t>ECG5000</a:t>
            </a:r>
            <a:r>
              <a:rPr lang="it-IT" sz="1600" dirty="0"/>
              <a:t> (UCR Time Series </a:t>
            </a:r>
            <a:r>
              <a:rPr lang="it-IT" sz="1600" dirty="0" err="1"/>
              <a:t>Classification</a:t>
            </a:r>
            <a:r>
              <a:rPr lang="it-IT" sz="1600" dirty="0"/>
              <a:t> Archive)</a:t>
            </a:r>
          </a:p>
          <a:p>
            <a:pPr marL="358775" lvl="1" indent="-271463">
              <a:buFont typeface="Arial" panose="020B0604020202020204" pitchFamily="34" charset="0"/>
              <a:buChar char="•"/>
            </a:pPr>
            <a:r>
              <a:rPr lang="it-IT" sz="1600" dirty="0" err="1"/>
              <a:t>Each</a:t>
            </a:r>
            <a:r>
              <a:rPr lang="it-IT" sz="1600" dirty="0"/>
              <a:t> sample: </a:t>
            </a:r>
            <a:r>
              <a:rPr lang="it-IT" sz="1600" b="1" dirty="0"/>
              <a:t>140 </a:t>
            </a:r>
            <a:r>
              <a:rPr lang="it-IT" sz="1600" b="1" dirty="0" err="1"/>
              <a:t>values</a:t>
            </a:r>
            <a:r>
              <a:rPr lang="it-IT" sz="1600" b="1" dirty="0"/>
              <a:t> </a:t>
            </a:r>
            <a:r>
              <a:rPr lang="it-IT" sz="1600" dirty="0"/>
              <a:t>(single </a:t>
            </a:r>
            <a:r>
              <a:rPr lang="it-IT" sz="1600" dirty="0" err="1"/>
              <a:t>heartbeat</a:t>
            </a:r>
            <a:r>
              <a:rPr lang="it-IT" sz="1600" dirty="0"/>
              <a:t>)</a:t>
            </a:r>
          </a:p>
          <a:p>
            <a:pPr marL="358775" lvl="1" indent="-271463">
              <a:buFont typeface="Arial" panose="020B0604020202020204" pitchFamily="34" charset="0"/>
              <a:buChar char="•"/>
            </a:pPr>
            <a:r>
              <a:rPr lang="it-IT" sz="1600" dirty="0"/>
              <a:t>Real ECG </a:t>
            </a:r>
            <a:r>
              <a:rPr lang="it-IT" sz="1600" dirty="0" err="1"/>
              <a:t>signals</a:t>
            </a:r>
            <a:r>
              <a:rPr lang="it-IT" sz="1600" dirty="0"/>
              <a:t> (</a:t>
            </a:r>
            <a:r>
              <a:rPr lang="it-IT" sz="1600" dirty="0" err="1"/>
              <a:t>biomedical</a:t>
            </a:r>
            <a:r>
              <a:rPr lang="it-IT" sz="1600" dirty="0"/>
              <a:t> time </a:t>
            </a:r>
            <a:r>
              <a:rPr lang="it-IT" sz="1600" dirty="0" err="1"/>
              <a:t>series</a:t>
            </a:r>
            <a:r>
              <a:rPr lang="it-IT" sz="1600" dirty="0"/>
              <a:t>)</a:t>
            </a:r>
          </a:p>
          <a:p>
            <a:pPr marL="358775" lvl="1" indent="-271463">
              <a:buFont typeface="Arial" panose="020B0604020202020204" pitchFamily="34" charset="0"/>
              <a:buChar char="•"/>
            </a:pPr>
            <a:r>
              <a:rPr lang="it-IT" sz="1600" dirty="0"/>
              <a:t>Pattern </a:t>
            </a:r>
            <a:r>
              <a:rPr lang="it-IT" sz="2000" b="1" dirty="0"/>
              <a:t>𝑄</a:t>
            </a:r>
            <a:r>
              <a:rPr lang="it-IT" sz="1600" dirty="0"/>
              <a:t>: one ECG sample</a:t>
            </a:r>
          </a:p>
          <a:p>
            <a:pPr marL="358775" lvl="1" indent="-271463">
              <a:buFont typeface="Arial" panose="020B0604020202020204" pitchFamily="34" charset="0"/>
              <a:buChar char="•"/>
            </a:pPr>
            <a:r>
              <a:rPr lang="it-IT" sz="1600" dirty="0" err="1"/>
              <a:t>Signal</a:t>
            </a:r>
            <a:r>
              <a:rPr lang="it-IT" sz="1600" dirty="0"/>
              <a:t> </a:t>
            </a:r>
            <a:r>
              <a:rPr lang="it-IT" sz="2000" b="1" dirty="0"/>
              <a:t>𝑆</a:t>
            </a:r>
            <a:r>
              <a:rPr lang="it-IT" sz="1600" dirty="0"/>
              <a:t>: </a:t>
            </a:r>
            <a:r>
              <a:rPr lang="it-IT" sz="1600" dirty="0" err="1"/>
              <a:t>concatenation</a:t>
            </a:r>
            <a:r>
              <a:rPr lang="it-IT" sz="1600" dirty="0"/>
              <a:t> of </a:t>
            </a:r>
            <a:r>
              <a:rPr lang="it-IT" sz="1600" dirty="0" err="1"/>
              <a:t>many</a:t>
            </a:r>
            <a:r>
              <a:rPr lang="it-IT" sz="1600" dirty="0"/>
              <a:t> ECG samples</a:t>
            </a:r>
          </a:p>
          <a:p>
            <a:pPr marL="358775" lvl="1" indent="-271463">
              <a:buFont typeface="Arial" panose="020B0604020202020204" pitchFamily="34" charset="0"/>
              <a:buChar char="•"/>
            </a:pPr>
            <a:r>
              <a:rPr lang="it-IT" sz="1600" dirty="0" err="1"/>
              <a:t>Final</a:t>
            </a:r>
            <a:r>
              <a:rPr lang="it-IT" sz="1600" dirty="0"/>
              <a:t> size:</a:t>
            </a:r>
          </a:p>
          <a:p>
            <a:pPr marL="174625" lvl="1" indent="-87313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endParaRPr lang="it-IT" sz="16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667293F-AE28-A78F-F623-505A795E4C0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959F735-A749-5DF0-EBE9-9EE0E7A6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5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E311CD-8F25-1DD3-CC95-405B8B97A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963" y="4857809"/>
            <a:ext cx="2554541" cy="356448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F7F46B2-9F58-3499-8EAF-D62881969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887" y="896020"/>
            <a:ext cx="4663051" cy="146851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09E6200D-AABD-963C-8A5E-BA558B070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5888" y="2724503"/>
            <a:ext cx="4441033" cy="1824229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66B28EFC-E43E-D9DE-832F-067953AB7D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5888" y="4625355"/>
            <a:ext cx="4663051" cy="1132561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7CC21F0-3331-C6CC-4F1D-9CD091487E66}"/>
              </a:ext>
            </a:extLst>
          </p:cNvPr>
          <p:cNvSpPr txBox="1"/>
          <p:nvPr/>
        </p:nvSpPr>
        <p:spPr>
          <a:xfrm>
            <a:off x="4629573" y="5990157"/>
            <a:ext cx="4540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Source: UCR Time Series </a:t>
            </a:r>
            <a:r>
              <a:rPr lang="it-IT" sz="1200" dirty="0" err="1"/>
              <a:t>Classification</a:t>
            </a:r>
            <a:r>
              <a:rPr lang="it-IT" sz="1200" dirty="0"/>
              <a:t> Archive (ECG5000)</a:t>
            </a:r>
          </a:p>
        </p:txBody>
      </p:sp>
    </p:spTree>
    <p:extLst>
      <p:ext uri="{BB962C8B-B14F-4D97-AF65-F5344CB8AC3E}">
        <p14:creationId xmlns:p14="http://schemas.microsoft.com/office/powerpoint/2010/main" val="99583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F017-432B-4C80-2290-D7E42CD1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E3B26560-19A3-592A-50DF-36142A96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03DBA5-07D1-8C2C-DC6E-159CEC4EBAF6}"/>
              </a:ext>
            </a:extLst>
          </p:cNvPr>
          <p:cNvSpPr txBox="1"/>
          <p:nvPr/>
        </p:nvSpPr>
        <p:spPr>
          <a:xfrm>
            <a:off x="648253" y="1066838"/>
            <a:ext cx="5175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Input Generation (Dataset Tool)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C2B60E-35E2-27B8-01C6-B35B03AA3F8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EF877A2-7357-04E7-0169-2AE31ACB03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7F9D401-3B5E-F469-7855-9C58321C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6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2F791D7-B517-88B1-0827-C12FB0F6A37B}"/>
              </a:ext>
            </a:extLst>
          </p:cNvPr>
          <p:cNvSpPr txBox="1"/>
          <p:nvPr/>
        </p:nvSpPr>
        <p:spPr>
          <a:xfrm>
            <a:off x="572052" y="1896329"/>
            <a:ext cx="458777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Dedicated</a:t>
            </a:r>
            <a:r>
              <a:rPr lang="it-IT" sz="1600" dirty="0"/>
              <a:t> C++ tool to generate inputs for </a:t>
            </a:r>
            <a:r>
              <a:rPr lang="it-IT" sz="1600" dirty="0" err="1"/>
              <a:t>all</a:t>
            </a:r>
            <a:r>
              <a:rPr lang="it-IT" sz="1600" dirty="0"/>
              <a:t> </a:t>
            </a:r>
            <a:r>
              <a:rPr lang="it-IT" sz="1600" dirty="0" err="1"/>
              <a:t>implementations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Reads</a:t>
            </a:r>
            <a:r>
              <a:rPr lang="it-IT" sz="1600" dirty="0"/>
              <a:t> ECG5000 </a:t>
            </a:r>
            <a:r>
              <a:rPr lang="it-IT" sz="1600" dirty="0" err="1"/>
              <a:t>rows</a:t>
            </a:r>
            <a:r>
              <a:rPr lang="it-IT" sz="1600" dirty="0"/>
              <a:t> (label + 140 samples)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Converts</a:t>
            </a:r>
            <a:r>
              <a:rPr lang="it-IT" sz="1600" dirty="0"/>
              <a:t> samples from float to </a:t>
            </a:r>
            <a:r>
              <a:rPr lang="it-IT" sz="1600" dirty="0" err="1"/>
              <a:t>int</a:t>
            </a:r>
            <a:r>
              <a:rPr lang="it-IT" sz="1600" dirty="0"/>
              <a:t>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Builds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𝑆</a:t>
            </a:r>
            <a:r>
              <a:rPr lang="it-IT" sz="1600" dirty="0"/>
              <a:t>: </a:t>
            </a:r>
            <a:r>
              <a:rPr lang="it-IT" sz="1600" dirty="0" err="1"/>
              <a:t>concatenation</a:t>
            </a:r>
            <a:r>
              <a:rPr lang="it-IT" sz="1600" dirty="0"/>
              <a:t> of </a:t>
            </a:r>
            <a:r>
              <a:rPr lang="it-IT" sz="1600" dirty="0" err="1"/>
              <a:t>many</a:t>
            </a:r>
            <a:r>
              <a:rPr lang="it-IT" sz="1600" dirty="0"/>
              <a:t> </a:t>
            </a:r>
            <a:r>
              <a:rPr lang="it-IT" sz="1600" dirty="0" err="1"/>
              <a:t>rows</a:t>
            </a:r>
            <a:r>
              <a:rPr lang="it-IT" sz="1600" dirty="0"/>
              <a:t> (es, 5000)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b="1" dirty="0"/>
              <a:t>𝑄</a:t>
            </a:r>
            <a:r>
              <a:rPr lang="it-IT" sz="1600" dirty="0"/>
              <a:t>: one </a:t>
            </a:r>
            <a:r>
              <a:rPr lang="it-IT" sz="1600" dirty="0" err="1"/>
              <a:t>selected</a:t>
            </a:r>
            <a:r>
              <a:rPr lang="it-IT" sz="1600" dirty="0"/>
              <a:t> </a:t>
            </a:r>
            <a:r>
              <a:rPr lang="it-IT" sz="1600" dirty="0" err="1"/>
              <a:t>row</a:t>
            </a:r>
            <a:r>
              <a:rPr lang="it-IT" sz="1600" dirty="0"/>
              <a:t> (es, </a:t>
            </a:r>
            <a:r>
              <a:rPr lang="it-IT" sz="1600" dirty="0" err="1"/>
              <a:t>row</a:t>
            </a:r>
            <a:r>
              <a:rPr lang="it-IT" sz="1600" dirty="0"/>
              <a:t>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Adds</a:t>
            </a:r>
            <a:r>
              <a:rPr lang="it-IT" sz="1600" dirty="0"/>
              <a:t> a small </a:t>
            </a:r>
            <a:r>
              <a:rPr lang="it-IT" sz="1600" dirty="0" err="1"/>
              <a:t>perturbation</a:t>
            </a:r>
            <a:r>
              <a:rPr lang="it-IT" sz="1600" dirty="0"/>
              <a:t> to </a:t>
            </a:r>
            <a:r>
              <a:rPr lang="it-IT" sz="1600" b="1" dirty="0"/>
              <a:t>𝑄</a:t>
            </a:r>
            <a:r>
              <a:rPr lang="it-IT" sz="1600" dirty="0"/>
              <a:t> to </a:t>
            </a:r>
            <a:r>
              <a:rPr lang="it-IT" sz="1600" dirty="0" err="1"/>
              <a:t>avoid</a:t>
            </a:r>
            <a:r>
              <a:rPr lang="it-IT" sz="1600" dirty="0"/>
              <a:t> a </a:t>
            </a:r>
            <a:r>
              <a:rPr lang="it-IT" sz="1600" dirty="0" err="1"/>
              <a:t>perfect</a:t>
            </a:r>
            <a:r>
              <a:rPr lang="it-IT" sz="1600" dirty="0"/>
              <a:t>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Outputs </a:t>
            </a:r>
            <a:r>
              <a:rPr lang="it-IT" sz="1600" dirty="0" err="1"/>
              <a:t>two</a:t>
            </a:r>
            <a:r>
              <a:rPr lang="it-IT" sz="1600" dirty="0"/>
              <a:t> files: </a:t>
            </a:r>
            <a:r>
              <a:rPr lang="it-IT" sz="1600" b="1" dirty="0"/>
              <a:t>S.txt </a:t>
            </a:r>
            <a:r>
              <a:rPr lang="it-IT" sz="1600" dirty="0"/>
              <a:t>and </a:t>
            </a:r>
            <a:r>
              <a:rPr lang="it-IT" sz="1600" b="1" dirty="0"/>
              <a:t>Q.txt </a:t>
            </a:r>
            <a:r>
              <a:rPr lang="it-IT" sz="1600" dirty="0"/>
              <a:t>(one </a:t>
            </a:r>
            <a:r>
              <a:rPr lang="it-IT" sz="1600" dirty="0" err="1"/>
              <a:t>integer</a:t>
            </a:r>
            <a:r>
              <a:rPr lang="it-IT" sz="1600" dirty="0"/>
              <a:t> for line)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916A3C3-C15C-A1B7-4902-1FF26BB1B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606" y="3010514"/>
            <a:ext cx="2737784" cy="46166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DF20B5D-A6C2-3884-7E8B-A7A54EEAE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829" y="1632966"/>
            <a:ext cx="3736892" cy="38199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721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C1E6-0BA6-E85F-CDBE-A373E5D0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3167B80-FFBD-580F-6A30-088F458D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56" y="-14633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30742FD-BE4A-2869-4A49-A9FE89C60E0E}"/>
              </a:ext>
            </a:extLst>
          </p:cNvPr>
          <p:cNvSpPr txBox="1"/>
          <p:nvPr/>
        </p:nvSpPr>
        <p:spPr>
          <a:xfrm>
            <a:off x="832984" y="1119556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CPU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Sequential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Baseline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6CA9B3E-3F50-4187-9CF8-2B5518E6CFC1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99BB11B-1568-B57D-BEE2-365EA95C8814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F64AFF03-FEC7-9F08-134D-F5F09F46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7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F540113-9333-99DB-86BC-8E43A92FE6FC}"/>
              </a:ext>
            </a:extLst>
          </p:cNvPr>
          <p:cNvSpPr txBox="1"/>
          <p:nvPr/>
        </p:nvSpPr>
        <p:spPr>
          <a:xfrm>
            <a:off x="553244" y="1918993"/>
            <a:ext cx="40005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Reference </a:t>
            </a:r>
            <a:r>
              <a:rPr lang="it-IT" sz="1600" dirty="0" err="1"/>
              <a:t>implementation</a:t>
            </a:r>
            <a:r>
              <a:rPr lang="it-IT" sz="1600" dirty="0"/>
              <a:t> (</a:t>
            </a:r>
            <a:r>
              <a:rPr lang="it-IT" sz="1600" dirty="0" err="1"/>
              <a:t>correctness</a:t>
            </a:r>
            <a:r>
              <a:rPr lang="it-IT" sz="1600" dirty="0"/>
              <a:t> + baseline)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Direct implementation of the reference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Sliding-window SAD computation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One window processed at 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Used as correctness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Used as baseline for speedup computation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Worst-case complexity: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722A26-9006-0343-4D05-9173ADE3C13C}"/>
              </a:ext>
            </a:extLst>
          </p:cNvPr>
          <p:cNvSpPr txBox="1"/>
          <p:nvPr/>
        </p:nvSpPr>
        <p:spPr>
          <a:xfrm>
            <a:off x="4944320" y="1889779"/>
            <a:ext cx="3831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40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1B1EAD2A-3227-B157-B322-D9791ED60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758" y="4260754"/>
            <a:ext cx="2347163" cy="41456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B21C86D4-F1D0-4775-1941-B40195131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752" y="3520974"/>
            <a:ext cx="3942518" cy="1204972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740E3845-093B-42E4-D068-4216BDA83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44" y="2273104"/>
            <a:ext cx="4510076" cy="10352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056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C1E6-0BA6-E85F-CDBE-A373E5D0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3167B80-FFBD-580F-6A30-088F458D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56" y="26332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30742FD-BE4A-2869-4A49-A9FE89C60E0E}"/>
              </a:ext>
            </a:extLst>
          </p:cNvPr>
          <p:cNvSpPr txBox="1"/>
          <p:nvPr/>
        </p:nvSpPr>
        <p:spPr>
          <a:xfrm>
            <a:off x="832984" y="1119556"/>
            <a:ext cx="6002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CPU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Parallel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Implementation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(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OpenMP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6CA9B3E-3F50-4187-9CF8-2B5518E6CFC1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99BB11B-1568-B57D-BEE2-365EA95C8814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F64AFF03-FEC7-9F08-134D-F5F09F46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8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F540113-9333-99DB-86BC-8E43A92FE6FC}"/>
              </a:ext>
            </a:extLst>
          </p:cNvPr>
          <p:cNvSpPr txBox="1"/>
          <p:nvPr/>
        </p:nvSpPr>
        <p:spPr>
          <a:xfrm>
            <a:off x="553244" y="2186149"/>
            <a:ext cx="40005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Parallelize</a:t>
            </a:r>
            <a:r>
              <a:rPr lang="it-IT" sz="1400" dirty="0"/>
              <a:t> the </a:t>
            </a:r>
            <a:r>
              <a:rPr lang="it-IT" sz="1400" dirty="0" err="1"/>
              <a:t>outer</a:t>
            </a:r>
            <a:r>
              <a:rPr lang="it-IT" sz="1400" dirty="0"/>
              <a:t> loop over window start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Each</a:t>
            </a:r>
            <a:r>
              <a:rPr lang="it-IT" sz="1400" b="1" dirty="0"/>
              <a:t> </a:t>
            </a:r>
            <a:r>
              <a:rPr lang="it-IT" sz="1400" b="1" dirty="0" err="1"/>
              <a:t>thread</a:t>
            </a:r>
            <a:r>
              <a:rPr lang="it-IT" sz="1400" b="1" dirty="0"/>
              <a:t> </a:t>
            </a:r>
            <a:r>
              <a:rPr lang="it-IT" sz="1400" b="1" dirty="0" err="1"/>
              <a:t>computes</a:t>
            </a:r>
            <a:r>
              <a:rPr lang="it-IT" sz="1400" b="1" dirty="0"/>
              <a:t> SAD on </a:t>
            </a:r>
            <a:r>
              <a:rPr lang="it-IT" sz="1400" b="1" dirty="0" err="1"/>
              <a:t>its</a:t>
            </a:r>
            <a:r>
              <a:rPr lang="it-IT" sz="1400" b="1" dirty="0"/>
              <a:t> </a:t>
            </a:r>
            <a:r>
              <a:rPr lang="it-IT" sz="1400" b="1" dirty="0" err="1"/>
              <a:t>assigned</a:t>
            </a:r>
            <a:r>
              <a:rPr lang="it-IT" sz="1400" b="1" dirty="0"/>
              <a:t>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Thread-local</a:t>
            </a:r>
            <a:r>
              <a:rPr lang="it-IT" sz="1400" b="1" dirty="0"/>
              <a:t> minimum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Global minimum </a:t>
            </a:r>
            <a:r>
              <a:rPr lang="it-IT" sz="1400" dirty="0" err="1"/>
              <a:t>obtained</a:t>
            </a:r>
            <a:r>
              <a:rPr lang="it-IT" sz="1400" dirty="0"/>
              <a:t> by </a:t>
            </a:r>
            <a:r>
              <a:rPr lang="it-IT" sz="1400" b="1" dirty="0" err="1"/>
              <a:t>merging</a:t>
            </a:r>
            <a:r>
              <a:rPr lang="it-IT" sz="1400" b="1" dirty="0"/>
              <a:t> </a:t>
            </a:r>
            <a:r>
              <a:rPr lang="it-IT" sz="1400" b="1" dirty="0" err="1"/>
              <a:t>local</a:t>
            </a:r>
            <a:r>
              <a:rPr lang="it-IT" sz="1400" b="1" dirty="0"/>
              <a:t> minima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Synchronization</a:t>
            </a:r>
            <a:r>
              <a:rPr lang="it-IT" sz="1400" dirty="0"/>
              <a:t> </a:t>
            </a:r>
            <a:r>
              <a:rPr lang="it-IT" sz="1400" dirty="0" err="1"/>
              <a:t>only</a:t>
            </a:r>
            <a:r>
              <a:rPr lang="it-IT" sz="1400" dirty="0"/>
              <a:t> in the merge step (</a:t>
            </a:r>
            <a:r>
              <a:rPr lang="it-IT" sz="1400" dirty="0" err="1"/>
              <a:t>critical</a:t>
            </a:r>
            <a:r>
              <a:rPr lang="it-IT" sz="1400" dirty="0"/>
              <a:t> </a:t>
            </a:r>
            <a:r>
              <a:rPr lang="it-IT" sz="1400" dirty="0" err="1"/>
              <a:t>section</a:t>
            </a:r>
            <a:r>
              <a:rPr lang="it-IT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/>
              <a:t>Scalability</a:t>
            </a:r>
            <a:r>
              <a:rPr lang="it-IT" sz="1400" dirty="0"/>
              <a:t> limited by </a:t>
            </a:r>
            <a:r>
              <a:rPr lang="it-IT" sz="1400" dirty="0" err="1"/>
              <a:t>synchronization</a:t>
            </a:r>
            <a:r>
              <a:rPr lang="it-IT" sz="1400" dirty="0"/>
              <a:t> + </a:t>
            </a:r>
            <a:r>
              <a:rPr lang="it-IT" sz="1400" dirty="0" err="1"/>
              <a:t>memory</a:t>
            </a:r>
            <a:r>
              <a:rPr lang="it-IT" sz="1400" dirty="0"/>
              <a:t> </a:t>
            </a:r>
            <a:r>
              <a:rPr lang="it-IT" sz="1400" dirty="0" err="1"/>
              <a:t>bandwidth</a:t>
            </a: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722A26-9006-0343-4D05-9173ADE3C13C}"/>
              </a:ext>
            </a:extLst>
          </p:cNvPr>
          <p:cNvSpPr txBox="1"/>
          <p:nvPr/>
        </p:nvSpPr>
        <p:spPr>
          <a:xfrm>
            <a:off x="4944320" y="1889779"/>
            <a:ext cx="3831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4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D4E833C-ADDF-DA43-D12C-BE28762D7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660" y="2834120"/>
            <a:ext cx="1801202" cy="224349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3F7340C-1AE1-460B-D1EA-C0B89C34D796}"/>
              </a:ext>
            </a:extLst>
          </p:cNvPr>
          <p:cNvSpPr txBox="1"/>
          <p:nvPr/>
        </p:nvSpPr>
        <p:spPr>
          <a:xfrm>
            <a:off x="5065965" y="4382513"/>
            <a:ext cx="35880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Independent windows processed in parallel; final minimum obtained by merging thread-local results.</a:t>
            </a:r>
            <a:endParaRPr lang="it-IT" sz="1100" i="1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AA7401B2-071A-DD16-603F-D2225298E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262" y="2273043"/>
            <a:ext cx="4427219" cy="189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9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C1E6-0BA6-E85F-CDBE-A373E5D0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3167B80-FFBD-580F-6A30-088F458D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56" y="26332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30742FD-BE4A-2869-4A49-A9FE89C60E0E}"/>
              </a:ext>
            </a:extLst>
          </p:cNvPr>
          <p:cNvSpPr txBox="1"/>
          <p:nvPr/>
        </p:nvSpPr>
        <p:spPr>
          <a:xfrm>
            <a:off x="619136" y="1131744"/>
            <a:ext cx="6002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CUDA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Implementation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6CA9B3E-3F50-4187-9CF8-2B5518E6CFC1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99BB11B-1568-B57D-BEE2-365EA95C8814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F64AFF03-FEC7-9F08-134D-F5F09F46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9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F540113-9333-99DB-86BC-8E43A92FE6FC}"/>
              </a:ext>
            </a:extLst>
          </p:cNvPr>
          <p:cNvSpPr txBox="1"/>
          <p:nvPr/>
        </p:nvSpPr>
        <p:spPr>
          <a:xfrm>
            <a:off x="475427" y="1877852"/>
            <a:ext cx="4096573" cy="371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Parallelize</a:t>
            </a:r>
            <a:r>
              <a:rPr lang="it-IT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the </a:t>
            </a:r>
            <a:r>
              <a:rPr lang="it-IT" sz="1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outer</a:t>
            </a:r>
            <a:r>
              <a:rPr lang="it-IT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loop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over window start positions (start)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 GPU </a:t>
            </a:r>
            <a:r>
              <a:rPr lang="it-IT" sz="1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it-IT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1 window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computes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one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SAD(start)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Inner loop </a:t>
            </a:r>
            <a:r>
              <a:rPr lang="it-IT" sz="1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sequential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inside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each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(j = 0..M-1, with M = 140 in ECG5000)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Each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writes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one output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→ out[start] = SAD(start) (output size = N - M + 1)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No </a:t>
            </a:r>
            <a:r>
              <a:rPr lang="it-IT" sz="1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synchronization</a:t>
            </a:r>
            <a:r>
              <a:rPr lang="it-IT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required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during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SAD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computation</a:t>
            </a:r>
            <a:b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(windows are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independent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→ no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shared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state)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CPU post-processing: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final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reduction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on out[]</a:t>
            </a:r>
            <a:b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bestIdx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argmin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(out), </a:t>
            </a:r>
            <a:r>
              <a:rPr lang="it-IT" sz="1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bestSAD</a:t>
            </a:r>
            <a:r>
              <a:rPr lang="it-IT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min(out)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722A26-9006-0343-4D05-9173ADE3C13C}"/>
              </a:ext>
            </a:extLst>
          </p:cNvPr>
          <p:cNvSpPr txBox="1"/>
          <p:nvPr/>
        </p:nvSpPr>
        <p:spPr>
          <a:xfrm>
            <a:off x="4944320" y="1889779"/>
            <a:ext cx="3831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D957692-FE50-93C4-D9D3-06D3CB0293CB}"/>
              </a:ext>
            </a:extLst>
          </p:cNvPr>
          <p:cNvSpPr txBox="1"/>
          <p:nvPr/>
        </p:nvSpPr>
        <p:spPr>
          <a:xfrm>
            <a:off x="4446984" y="1705113"/>
            <a:ext cx="4673600" cy="345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C++ / CUDA </a:t>
            </a:r>
            <a:r>
              <a:rPr lang="it-IT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implementation</a:t>
            </a: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details</a:t>
            </a:r>
            <a:endParaRPr lang="it-IT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CUDA Runtime API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kernel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launch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memory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management</a:t>
            </a:r>
            <a:b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cudaMalloc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cudaMemcpy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cudaMemcpyToSymbol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Host-side containers: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std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::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vector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 for S and Q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Kernel timing: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cudaEvent_t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measure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kernel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execution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time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</a:t>
            </a:r>
            <a:endParaRPr lang="it-IT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End-to-end timing: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std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::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chrono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::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high_resolution_clock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(H2D + kernel + D2H + CPU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reduction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 </a:t>
            </a:r>
            <a:r>
              <a:rPr lang="it-IT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</a:t>
            </a: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long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long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safely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accumulate M = 140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absolute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differences</a:t>
            </a:r>
            <a:endParaRPr lang="it-IT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Multiple </a:t>
            </a:r>
            <a:r>
              <a:rPr lang="it-IT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memory</a:t>
            </a: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variants</a:t>
            </a: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implemented</a:t>
            </a:r>
            <a:r>
              <a:rPr lang="it-I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Global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memory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(baseline), Constant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memory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Shared</a:t>
            </a:r>
            <a:r>
              <a:rPr lang="it-I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memory</a:t>
            </a:r>
            <a:endParaRPr lang="it-IT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79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C1E6-0BA6-E85F-CDBE-A373E5D0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3167B80-FFBD-580F-6A30-088F458D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633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30742FD-BE4A-2869-4A49-A9FE89C60E0E}"/>
              </a:ext>
            </a:extLst>
          </p:cNvPr>
          <p:cNvSpPr txBox="1"/>
          <p:nvPr/>
        </p:nvSpPr>
        <p:spPr>
          <a:xfrm>
            <a:off x="827558" y="966449"/>
            <a:ext cx="6002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CUDA Implementation: Execution Flow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6CA9B3E-3F50-4187-9CF8-2B5518E6CFC1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99BB11B-1568-B57D-BEE2-365EA95C8814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F64AFF03-FEC7-9F08-134D-F5F09F46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10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722A26-9006-0343-4D05-9173ADE3C13C}"/>
              </a:ext>
            </a:extLst>
          </p:cNvPr>
          <p:cNvSpPr txBox="1"/>
          <p:nvPr/>
        </p:nvSpPr>
        <p:spPr>
          <a:xfrm>
            <a:off x="4944320" y="1889779"/>
            <a:ext cx="3831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ACFDBEA-2B8C-2386-D8FF-A43C0FB12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386" y="2058128"/>
            <a:ext cx="7749137" cy="281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88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6629-B036-CACE-D165-1D96D564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35A59E3-BDE0-D3F4-AFF2-6EE395D1D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48FF3D4-5F29-8371-AD23-D8E992F56B9F}"/>
              </a:ext>
            </a:extLst>
          </p:cNvPr>
          <p:cNvSpPr txBox="1"/>
          <p:nvPr/>
        </p:nvSpPr>
        <p:spPr>
          <a:xfrm>
            <a:off x="648252" y="997299"/>
            <a:ext cx="8251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CUDA Memory Variants (Global vs Constant vs Shared)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311B28E-2D5E-0A17-4E18-2DA3DAFDE49B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0B77129-F1D3-A412-9185-06220DCF621F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1163F2AD-D7F5-F41A-CC2E-F139CF7D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11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3A8288-6078-F882-3651-66D2E9E13072}"/>
              </a:ext>
            </a:extLst>
          </p:cNvPr>
          <p:cNvSpPr txBox="1"/>
          <p:nvPr/>
        </p:nvSpPr>
        <p:spPr>
          <a:xfrm>
            <a:off x="1014995" y="1705113"/>
            <a:ext cx="7702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same CUDA kernel is evaluated using three different memory placements for the pattern Q, to analyze the impact of memory access on performance.</a:t>
            </a:r>
            <a:endParaRPr lang="it-IT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8ADEA2-DD99-A4EF-4B25-F2162A5F11B5}"/>
              </a:ext>
            </a:extLst>
          </p:cNvPr>
          <p:cNvSpPr txBox="1"/>
          <p:nvPr/>
        </p:nvSpPr>
        <p:spPr>
          <a:xfrm>
            <a:off x="331266" y="2838821"/>
            <a:ext cx="4147267" cy="3460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Same kernel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logic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versions</a:t>
            </a:r>
            <a:b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en-US" sz="1400" dirty="0"/>
              <a:t>only the memory placement of Q changes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Global (baseline): </a:t>
            </a:r>
            <a:r>
              <a:rPr lang="en-US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read Q from global memory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Constant: </a:t>
            </a:r>
            <a:r>
              <a:rPr lang="en-US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read Q from constant memory (cached, broadcast)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Shared: </a:t>
            </a:r>
            <a:r>
              <a:rPr lang="en-US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load Q into shared memory (per block)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Performance differences due to memory access patterns</a:t>
            </a:r>
            <a:endParaRPr lang="it-IT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it-IT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it-IT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4BEDED9A-278B-E2A5-F474-8D847247B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01" y="2888725"/>
            <a:ext cx="4565752" cy="1839331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D1C2026-7E3D-1CC3-C9BD-B5B32C2FE09B}"/>
              </a:ext>
            </a:extLst>
          </p:cNvPr>
          <p:cNvSpPr txBox="1"/>
          <p:nvPr/>
        </p:nvSpPr>
        <p:spPr>
          <a:xfrm>
            <a:off x="4704604" y="5338679"/>
            <a:ext cx="4108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Q is small and read-only → ideal for constant memory.</a:t>
            </a:r>
            <a:endParaRPr lang="it-IT" sz="1400" i="1" dirty="0"/>
          </a:p>
        </p:txBody>
      </p:sp>
    </p:spTree>
    <p:extLst>
      <p:ext uri="{BB962C8B-B14F-4D97-AF65-F5344CB8AC3E}">
        <p14:creationId xmlns:p14="http://schemas.microsoft.com/office/powerpoint/2010/main" val="295691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4EC5-2F1D-0ADC-C4FD-EFF59870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B5B05B5-8506-6466-9F01-F108E0A8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F24B3C-9EA2-425F-2060-FDFE868D88F9}"/>
              </a:ext>
            </a:extLst>
          </p:cNvPr>
          <p:cNvSpPr txBox="1"/>
          <p:nvPr/>
        </p:nvSpPr>
        <p:spPr>
          <a:xfrm>
            <a:off x="683681" y="977061"/>
            <a:ext cx="6785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CUDA Execution Time (Kernel vs End-to-End)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023B30-45FB-A110-7128-83FFE08239C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CD1AEA2-7B44-B324-7B9F-70FCE87DB4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D669C41-14B6-E5AF-230E-9E08ABDE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0298A4-026C-3622-5178-62F3FBB75F3B}"/>
              </a:ext>
            </a:extLst>
          </p:cNvPr>
          <p:cNvSpPr txBox="1"/>
          <p:nvPr/>
        </p:nvSpPr>
        <p:spPr>
          <a:xfrm>
            <a:off x="6276630" y="2861502"/>
            <a:ext cx="28673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Kernel </a:t>
            </a:r>
            <a:r>
              <a:rPr lang="en-US" sz="1400" dirty="0"/>
              <a:t>time isolates pure GPU computation</a:t>
            </a:r>
            <a:r>
              <a:rPr lang="it-IT" sz="1400" dirty="0"/>
              <a:t>.</a:t>
            </a:r>
          </a:p>
          <a:p>
            <a:endParaRPr lang="it-IT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End-to-end (total) </a:t>
            </a:r>
            <a:r>
              <a:rPr lang="en-US" sz="1400" dirty="0"/>
              <a:t>includes transfers + CPU reduction</a:t>
            </a:r>
            <a:r>
              <a:rPr lang="it-IT" sz="1400" dirty="0"/>
              <a:t>.</a:t>
            </a:r>
          </a:p>
          <a:p>
            <a:endParaRPr lang="it-IT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Constant memory is the fastest kernel variant</a:t>
            </a:r>
            <a:r>
              <a:rPr lang="it-IT" sz="1400" dirty="0"/>
              <a:t>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99D8542-1A5E-1905-5F6F-4D83483C5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48" y="2169702"/>
            <a:ext cx="5754844" cy="318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8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4EC5-2F1D-0ADC-C4FD-EFF59870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B5B05B5-8506-6466-9F01-F108E0A8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F24B3C-9EA2-425F-2060-FDFE868D88F9}"/>
              </a:ext>
            </a:extLst>
          </p:cNvPr>
          <p:cNvSpPr txBox="1"/>
          <p:nvPr/>
        </p:nvSpPr>
        <p:spPr>
          <a:xfrm>
            <a:off x="532046" y="1157278"/>
            <a:ext cx="6785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Python Multiprocessing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Implementation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023B30-45FB-A110-7128-83FFE08239C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CD1AEA2-7B44-B324-7B9F-70FCE87DB4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D669C41-14B6-E5AF-230E-9E08ABDE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0298A4-026C-3622-5178-62F3FBB75F3B}"/>
              </a:ext>
            </a:extLst>
          </p:cNvPr>
          <p:cNvSpPr txBox="1"/>
          <p:nvPr/>
        </p:nvSpPr>
        <p:spPr>
          <a:xfrm>
            <a:off x="532046" y="1953560"/>
            <a:ext cx="4470260" cy="4246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Parallelize</a:t>
            </a:r>
            <a:r>
              <a:rPr lang="it-IT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</a:t>
            </a: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outer</a:t>
            </a:r>
            <a:r>
              <a:rPr lang="it-IT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loop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over window start positions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</a:t>
            </a: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multiprocessing.Pool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run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workers on multiple CPU cores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Split the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search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space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into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chunks</a:t>
            </a:r>
            <a:r>
              <a:rPr lang="it-IT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of windows</a:t>
            </a:r>
            <a:endParaRPr lang="it-IT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worker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SAD on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chunk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</a:t>
            </a:r>
            <a:r>
              <a:rPr lang="it-IT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minimum</a:t>
            </a:r>
            <a:endParaRPr lang="it-IT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</a:t>
            </a: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</a:t>
            </a:r>
            <a:r>
              <a:rPr lang="it-IT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reduction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get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bestIdx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bestSAD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GIL,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introduces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</a:t>
            </a:r>
            <a:r>
              <a:rPr lang="it-IT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it-IT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communication</a:t>
            </a:r>
            <a:r>
              <a:rPr lang="it-IT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overhead</a:t>
            </a:r>
            <a:endParaRPr lang="it-IT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Same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algorithm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C++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versions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different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it-IT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parallel</a:t>
            </a:r>
            <a:r>
              <a:rPr lang="it-IT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BDBE3C4-AB26-E66F-5427-60121E874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136" y="1794790"/>
            <a:ext cx="3276868" cy="415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69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4EC5-2F1D-0ADC-C4FD-EFF59870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B5B05B5-8506-6466-9F01-F108E0A8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F24B3C-9EA2-425F-2060-FDFE868D88F9}"/>
              </a:ext>
            </a:extLst>
          </p:cNvPr>
          <p:cNvSpPr txBox="1"/>
          <p:nvPr/>
        </p:nvSpPr>
        <p:spPr>
          <a:xfrm>
            <a:off x="532045" y="808856"/>
            <a:ext cx="800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Overall Performance Comparison (Execution Time)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023B30-45FB-A110-7128-83FFE08239C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CD1AEA2-7B44-B324-7B9F-70FCE87DB4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D669C41-14B6-E5AF-230E-9E08ABDE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0298A4-026C-3622-5178-62F3FBB75F3B}"/>
              </a:ext>
            </a:extLst>
          </p:cNvPr>
          <p:cNvSpPr txBox="1"/>
          <p:nvPr/>
        </p:nvSpPr>
        <p:spPr>
          <a:xfrm>
            <a:off x="1077579" y="1442576"/>
            <a:ext cx="7534375" cy="1358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lvl="0" indent="-160338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/>
              <a:t>CUDA achieves orders-of-magnitude lower execution time</a:t>
            </a:r>
            <a:r>
              <a:rPr lang="en-US" sz="1400" dirty="0"/>
              <a:t> than CPU and Python</a:t>
            </a:r>
            <a:endParaRPr lang="en-US" sz="14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182563" lvl="0" indent="-160338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/>
              <a:t>OpenMP improves over sequential</a:t>
            </a:r>
            <a:r>
              <a:rPr lang="en-US" sz="1400" dirty="0"/>
              <a:t>, but is limited by CPU parallelism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82563" lvl="0" indent="-160338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 multiprocessing reduces time vs sequential, but overhead dominates</a:t>
            </a:r>
            <a:endParaRPr lang="it-IT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160A589-E446-3864-6A1F-4FA465660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55" y="2801410"/>
            <a:ext cx="7797126" cy="355494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3415EA0-690A-BE64-32E1-6758E702B5AD}"/>
              </a:ext>
            </a:extLst>
          </p:cNvPr>
          <p:cNvSpPr txBox="1"/>
          <p:nvPr/>
        </p:nvSpPr>
        <p:spPr>
          <a:xfrm>
            <a:off x="2968545" y="6433794"/>
            <a:ext cx="35613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ECG5000, M = 140, end-to-end execution time</a:t>
            </a:r>
            <a:endParaRPr lang="it-IT" sz="1200" i="1" dirty="0"/>
          </a:p>
        </p:txBody>
      </p:sp>
    </p:spTree>
    <p:extLst>
      <p:ext uri="{BB962C8B-B14F-4D97-AF65-F5344CB8AC3E}">
        <p14:creationId xmlns:p14="http://schemas.microsoft.com/office/powerpoint/2010/main" val="2873393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4EC5-2F1D-0ADC-C4FD-EFF59870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B5B05B5-8506-6466-9F01-F108E0A8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F24B3C-9EA2-425F-2060-FDFE868D88F9}"/>
              </a:ext>
            </a:extLst>
          </p:cNvPr>
          <p:cNvSpPr txBox="1"/>
          <p:nvPr/>
        </p:nvSpPr>
        <p:spPr>
          <a:xfrm>
            <a:off x="648253" y="906810"/>
            <a:ext cx="800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Final Speedup Comparison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023B30-45FB-A110-7128-83FFE08239C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CD1AEA2-7B44-B324-7B9F-70FCE87DB4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D669C41-14B6-E5AF-230E-9E08ABDE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15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F392A1D-B3AF-357A-F1E3-D5F00E327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26" y="2001508"/>
            <a:ext cx="8864084" cy="409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67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C411-F92C-A3CF-580F-28A3EB84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5661CD1-CF2A-B88B-A262-1ED954B7D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5480B32-744D-EF11-D2BE-1D1F74750914}"/>
              </a:ext>
            </a:extLst>
          </p:cNvPr>
          <p:cNvSpPr txBox="1"/>
          <p:nvPr/>
        </p:nvSpPr>
        <p:spPr>
          <a:xfrm>
            <a:off x="648252" y="1305402"/>
            <a:ext cx="617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Conclusions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1C52A0F-6453-1EA0-4A95-56528B0775F6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C12C345-3117-7B02-86D1-D7EE6E72993E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16E32D6-2619-2166-34C2-210D3335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16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E59838A-B024-E9D0-671E-AA5162623DF1}"/>
              </a:ext>
            </a:extLst>
          </p:cNvPr>
          <p:cNvSpPr txBox="1"/>
          <p:nvPr/>
        </p:nvSpPr>
        <p:spPr>
          <a:xfrm>
            <a:off x="648252" y="2074445"/>
            <a:ext cx="81038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 err="1"/>
              <a:t>Parallelization</a:t>
            </a:r>
            <a:r>
              <a:rPr lang="it-IT" sz="1600" b="1" dirty="0"/>
              <a:t> Strategy: </a:t>
            </a:r>
            <a:r>
              <a:rPr lang="it-IT" sz="1600" i="1" dirty="0"/>
              <a:t>Outer-loop </a:t>
            </a:r>
            <a:r>
              <a:rPr lang="it-IT" sz="1600" i="1" dirty="0" err="1"/>
              <a:t>dominates</a:t>
            </a:r>
            <a:endParaRPr lang="it-IT" sz="1600" i="1" dirty="0"/>
          </a:p>
          <a:p>
            <a:r>
              <a:rPr lang="it-IT" sz="1600" dirty="0"/>
              <a:t>	</a:t>
            </a:r>
            <a:r>
              <a:rPr lang="it-IT" sz="1600" dirty="0" err="1"/>
              <a:t>Parallelizing</a:t>
            </a:r>
            <a:r>
              <a:rPr lang="it-IT" sz="1600" dirty="0"/>
              <a:t> the window start positions (</a:t>
            </a:r>
            <a:r>
              <a:rPr lang="it-IT" sz="1600" dirty="0" err="1"/>
              <a:t>outer</a:t>
            </a:r>
            <a:r>
              <a:rPr lang="it-IT" sz="1600" dirty="0"/>
              <a:t> loop) </a:t>
            </a:r>
            <a:r>
              <a:rPr lang="it-IT" sz="1600" dirty="0" err="1"/>
              <a:t>exposes</a:t>
            </a:r>
            <a:r>
              <a:rPr lang="it-IT" sz="1600" dirty="0"/>
              <a:t> massive data-</a:t>
            </a:r>
            <a:r>
              <a:rPr lang="it-IT" sz="1600" dirty="0" err="1"/>
              <a:t>parallelism</a:t>
            </a:r>
            <a:r>
              <a:rPr lang="it-IT" sz="1600" dirty="0"/>
              <a:t> and 	</a:t>
            </a:r>
            <a:r>
              <a:rPr lang="it-IT" sz="1600" dirty="0" err="1"/>
              <a:t>scales</a:t>
            </a:r>
            <a:r>
              <a:rPr lang="it-IT" sz="1600" dirty="0"/>
              <a:t> </a:t>
            </a:r>
            <a:r>
              <a:rPr lang="it-IT" sz="1600" dirty="0" err="1"/>
              <a:t>well</a:t>
            </a:r>
            <a:r>
              <a:rPr lang="it-IT" sz="1600" dirty="0"/>
              <a:t> on </a:t>
            </a:r>
            <a:r>
              <a:rPr lang="it-IT" sz="1600" dirty="0" err="1"/>
              <a:t>both</a:t>
            </a:r>
            <a:r>
              <a:rPr lang="it-IT" sz="1600" dirty="0"/>
              <a:t> CPU (</a:t>
            </a:r>
            <a:r>
              <a:rPr lang="it-IT" sz="1600" dirty="0" err="1"/>
              <a:t>OpenMP</a:t>
            </a:r>
            <a:r>
              <a:rPr lang="it-IT" sz="1600" dirty="0"/>
              <a:t>) and GPU (CUDA).</a:t>
            </a:r>
          </a:p>
          <a:p>
            <a:r>
              <a:rPr lang="it-IT" sz="1600" dirty="0"/>
              <a:t>	The </a:t>
            </a:r>
            <a:r>
              <a:rPr lang="it-IT" sz="1600" dirty="0" err="1"/>
              <a:t>inner</a:t>
            </a:r>
            <a:r>
              <a:rPr lang="it-IT" sz="1600" dirty="0"/>
              <a:t> loop </a:t>
            </a:r>
            <a:r>
              <a:rPr lang="it-IT" sz="1600" dirty="0" err="1"/>
              <a:t>remains</a:t>
            </a:r>
            <a:r>
              <a:rPr lang="it-IT" sz="1600" dirty="0"/>
              <a:t> </a:t>
            </a:r>
            <a:r>
              <a:rPr lang="it-IT" sz="1600" dirty="0" err="1"/>
              <a:t>sequential</a:t>
            </a:r>
            <a:r>
              <a:rPr lang="it-IT" sz="1600" dirty="0"/>
              <a:t> inside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thread</a:t>
            </a:r>
            <a:r>
              <a:rPr lang="it-IT" sz="1600" dirty="0"/>
              <a:t> and </a:t>
            </a:r>
            <a:r>
              <a:rPr lang="it-IT" sz="1600" dirty="0" err="1"/>
              <a:t>does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limit</a:t>
            </a:r>
            <a:r>
              <a:rPr lang="it-IT" sz="1600" dirty="0"/>
              <a:t> </a:t>
            </a:r>
            <a:r>
              <a:rPr lang="it-IT" sz="1600" dirty="0" err="1"/>
              <a:t>scalability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Memory Placement (GPU): Constant &gt; Global ≈ Shared</a:t>
            </a:r>
            <a:endParaRPr lang="it-IT" sz="1600" b="1" i="1" dirty="0"/>
          </a:p>
          <a:p>
            <a:r>
              <a:rPr lang="it-IT" sz="1600" dirty="0"/>
              <a:t>	 </a:t>
            </a:r>
            <a:r>
              <a:rPr lang="en-US" sz="1600" dirty="0"/>
              <a:t>Placing the small, read-only pattern </a:t>
            </a:r>
            <a:r>
              <a:rPr lang="en-US" sz="1600" b="1" dirty="0"/>
              <a:t>Q</a:t>
            </a:r>
            <a:r>
              <a:rPr lang="en-US" sz="1600" dirty="0"/>
              <a:t> in </a:t>
            </a:r>
            <a:r>
              <a:rPr lang="en-US" sz="1600" b="1" dirty="0"/>
              <a:t>constant memory</a:t>
            </a:r>
            <a:r>
              <a:rPr lang="en-US" sz="1600" dirty="0"/>
              <a:t> yields the best performance 	due to caching and broadcast.</a:t>
            </a:r>
          </a:p>
          <a:p>
            <a:endParaRPr lang="en-US" sz="1600" dirty="0"/>
          </a:p>
          <a:p>
            <a:r>
              <a:rPr lang="en-US" sz="1600" b="1" dirty="0"/>
              <a:t>	Shared memory does not provide benefits</a:t>
            </a:r>
            <a:r>
              <a:rPr lang="en-US" sz="1600" dirty="0"/>
              <a:t> in this scenario because loading and 	synchronization overhead outweigh potential gains.</a:t>
            </a:r>
            <a:endParaRPr lang="it-IT" sz="1600" dirty="0"/>
          </a:p>
          <a:p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System &amp; Overhead Limits: Transfers and reduction dominate end-to-end time</a:t>
            </a:r>
            <a:endParaRPr lang="it-IT" sz="1600" b="1" dirty="0"/>
          </a:p>
          <a:p>
            <a:r>
              <a:rPr lang="it-IT" sz="1600" dirty="0"/>
              <a:t>	Performance </a:t>
            </a:r>
            <a:r>
              <a:rPr lang="it-IT" sz="1600" dirty="0" err="1"/>
              <a:t>plateaus</a:t>
            </a:r>
            <a:r>
              <a:rPr lang="it-IT" sz="1600" dirty="0"/>
              <a:t> </a:t>
            </a:r>
            <a:r>
              <a:rPr lang="it-IT" sz="1600" dirty="0" err="1"/>
              <a:t>beyond</a:t>
            </a:r>
            <a:r>
              <a:rPr lang="it-IT" sz="1600" dirty="0"/>
              <a:t> 8–16 </a:t>
            </a:r>
            <a:r>
              <a:rPr lang="it-IT" sz="1600" dirty="0" err="1"/>
              <a:t>threads</a:t>
            </a:r>
            <a:r>
              <a:rPr lang="it-IT" sz="1600" dirty="0"/>
              <a:t> due to </a:t>
            </a:r>
            <a:r>
              <a:rPr lang="it-IT" sz="1600" dirty="0" err="1"/>
              <a:t>bandwidth</a:t>
            </a:r>
            <a:r>
              <a:rPr lang="it-IT" sz="1600" dirty="0"/>
              <a:t> </a:t>
            </a:r>
            <a:r>
              <a:rPr lang="it-IT" sz="1600" dirty="0" err="1"/>
              <a:t>saturation</a:t>
            </a:r>
            <a:r>
              <a:rPr lang="it-IT" sz="1600" dirty="0"/>
              <a:t> and </a:t>
            </a:r>
            <a:r>
              <a:rPr lang="it-IT" sz="1600" dirty="0" err="1"/>
              <a:t>efficiency</a:t>
            </a:r>
            <a:r>
              <a:rPr lang="it-IT" sz="1600" dirty="0"/>
              <a:t> 	drops </a:t>
            </a:r>
            <a:r>
              <a:rPr lang="it-IT" sz="1600" dirty="0" err="1"/>
              <a:t>monotonically</a:t>
            </a:r>
            <a:r>
              <a:rPr lang="it-IT" sz="1600" dirty="0"/>
              <a:t>, </a:t>
            </a:r>
            <a:r>
              <a:rPr lang="it-IT" sz="1600" dirty="0" err="1"/>
              <a:t>consistent</a:t>
            </a:r>
            <a:r>
              <a:rPr lang="it-IT" sz="1600" dirty="0"/>
              <a:t> with </a:t>
            </a:r>
            <a:r>
              <a:rPr lang="it-IT" sz="1600" dirty="0" err="1"/>
              <a:t>Amdahl’s</a:t>
            </a:r>
            <a:r>
              <a:rPr lang="it-IT" sz="1600" dirty="0"/>
              <a:t> </a:t>
            </a:r>
            <a:r>
              <a:rPr lang="it-IT" sz="1600" dirty="0" err="1"/>
              <a:t>Law</a:t>
            </a:r>
            <a:r>
              <a:rPr lang="it-IT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82098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2382</TotalTime>
  <Words>1025</Words>
  <Application>Microsoft Office PowerPoint</Application>
  <PresentationFormat>Presentazione su schermo (4:3)</PresentationFormat>
  <Paragraphs>155</Paragraphs>
  <Slides>16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Symbol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susanna</dc:creator>
  <cp:lastModifiedBy>Andrea Bigagli</cp:lastModifiedBy>
  <cp:revision>53</cp:revision>
  <dcterms:created xsi:type="dcterms:W3CDTF">2012-12-06T09:21:12Z</dcterms:created>
  <dcterms:modified xsi:type="dcterms:W3CDTF">2026-02-17T15:12:38Z</dcterms:modified>
</cp:coreProperties>
</file>